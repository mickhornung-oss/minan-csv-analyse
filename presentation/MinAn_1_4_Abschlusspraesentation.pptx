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6032" y="219456"/>
            <a:ext cx="11676888" cy="6400800"/>
          </a:xfrm>
          <a:prstGeom prst="roundRect">
            <a:avLst/>
          </a:prstGeom>
          <a:solidFill>
            <a:srgbClr val="FFFFFF"/>
          </a:solidFill>
          <a:ln>
            <a:solidFill>
              <a:srgbClr val="D4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56032" y="219456"/>
            <a:ext cx="11676888" cy="768096"/>
          </a:xfrm>
          <a:prstGeom prst="roundRect">
            <a:avLst/>
          </a:prstGeom>
          <a:solidFill>
            <a:srgbClr val="2E5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768096"/>
            <a:ext cx="11676888" cy="219456"/>
          </a:xfrm>
          <a:prstGeom prst="rect">
            <a:avLst/>
          </a:prstGeom>
          <a:solidFill>
            <a:srgbClr val="2E5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429768"/>
            <a:ext cx="77724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MinAn 1.4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457200"/>
            <a:ext cx="6400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1100" b="0">
                <a:solidFill>
                  <a:srgbClr val="EDF4F1"/>
                </a:solidFill>
              </a:defRPr>
            </a:pPr>
            <a:r>
              <a:t>1/8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07592"/>
            <a:ext cx="10149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42E2D"/>
                </a:solidFill>
              </a:defRPr>
            </a:pPr>
            <a:r>
              <a:t>Aktueller Projektstand im Ordner MinAn V1.</a:t>
            </a:r>
          </a:p>
          <a:p>
            <a:pPr>
              <a:spcAft>
                <a:spcPts val="1000"/>
              </a:spcAft>
              <a:defRPr sz="1800">
                <a:solidFill>
                  <a:srgbClr val="242E2D"/>
                </a:solidFill>
              </a:defRPr>
            </a:pPr>
            <a:r>
              <a:t>Portables Windows-Tool zur lokalen CSV-Schnellanalyse.</a:t>
            </a:r>
          </a:p>
          <a:p>
            <a:pPr>
              <a:spcAft>
                <a:spcPts val="1000"/>
              </a:spcAft>
              <a:defRPr sz="1800">
                <a:solidFill>
                  <a:srgbClr val="242E2D"/>
                </a:solidFill>
              </a:defRPr>
            </a:pPr>
            <a:r>
              <a:t>Fokus laut Projektstand: Schnellstart, aktive Sicht, CSV-Export und HTML-Bericht.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" y="5897880"/>
            <a:ext cx="10104120" cy="18288"/>
          </a:xfrm>
          <a:prstGeom prst="rect">
            <a:avLst/>
          </a:prstGeom>
          <a:solidFill>
            <a:srgbClr val="D4D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5971032"/>
            <a:ext cx="1010412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00" b="0">
                <a:solidFill>
                  <a:srgbClr val="606E6B"/>
                </a:solidFill>
              </a:defRPr>
            </a:pPr>
            <a:r>
              <a:t>Basis: aktueller README- und Doku-Stand vom 07.04.2026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6032" y="219456"/>
            <a:ext cx="11676888" cy="6400800"/>
          </a:xfrm>
          <a:prstGeom prst="roundRect">
            <a:avLst/>
          </a:prstGeom>
          <a:solidFill>
            <a:srgbClr val="FFFFFF"/>
          </a:solidFill>
          <a:ln>
            <a:solidFill>
              <a:srgbClr val="D4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56032" y="219456"/>
            <a:ext cx="11676888" cy="768096"/>
          </a:xfrm>
          <a:prstGeom prst="roundRect">
            <a:avLst/>
          </a:prstGeom>
          <a:solidFill>
            <a:srgbClr val="2E5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768096"/>
            <a:ext cx="11676888" cy="219456"/>
          </a:xfrm>
          <a:prstGeom prst="rect">
            <a:avLst/>
          </a:prstGeom>
          <a:solidFill>
            <a:srgbClr val="2E5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429768"/>
            <a:ext cx="77724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Problem und Ziel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457200"/>
            <a:ext cx="6400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1100" b="0">
                <a:solidFill>
                  <a:srgbClr val="EDF4F1"/>
                </a:solidFill>
              </a:defRPr>
            </a:pPr>
            <a:r>
              <a:t>2/8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07592"/>
            <a:ext cx="10149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42E2D"/>
                </a:solidFill>
              </a:defRPr>
            </a:pPr>
            <a:r>
              <a:t>CSV-Dateien sollen ohne Installation lokal geladen und schnell eingeordnet werden.</a:t>
            </a:r>
          </a:p>
          <a:p>
            <a:pPr>
              <a:spcAft>
                <a:spcPts val="1000"/>
              </a:spcAft>
              <a:defRPr sz="1800">
                <a:solidFill>
                  <a:srgbClr val="242E2D"/>
                </a:solidFill>
              </a:defRPr>
            </a:pPr>
            <a:r>
              <a:t>Der erste Blick auf Struktur, Datenqualität, Kennzahlen und Diagramme soll direkt verfügbar sein.</a:t>
            </a:r>
          </a:p>
          <a:p>
            <a:pPr>
              <a:spcAft>
                <a:spcPts val="1000"/>
              </a:spcAft>
              <a:defRPr sz="1800">
                <a:solidFill>
                  <a:srgbClr val="242E2D"/>
                </a:solidFill>
              </a:defRPr>
            </a:pPr>
            <a:r>
              <a:t>Die Originaldatei bleibt unangetastet; gearbeitet wird auf einer Arbeitskopie und aktiven Sicht.</a:t>
            </a:r>
          </a:p>
          <a:p>
            <a:pPr>
              <a:spcAft>
                <a:spcPts val="1000"/>
              </a:spcAft>
              <a:defRPr sz="1800">
                <a:solidFill>
                  <a:srgbClr val="242E2D"/>
                </a:solidFill>
              </a:defRPr>
            </a:pPr>
            <a:r>
              <a:t>Nutzdaten sollen im portablen Release sichtbar im Hauptordner landen, nicht versteckt in Systempfaden.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6032" y="219456"/>
            <a:ext cx="11676888" cy="6400800"/>
          </a:xfrm>
          <a:prstGeom prst="roundRect">
            <a:avLst/>
          </a:prstGeom>
          <a:solidFill>
            <a:srgbClr val="FFFFFF"/>
          </a:solidFill>
          <a:ln>
            <a:solidFill>
              <a:srgbClr val="D4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56032" y="219456"/>
            <a:ext cx="11676888" cy="768096"/>
          </a:xfrm>
          <a:prstGeom prst="roundRect">
            <a:avLst/>
          </a:prstGeom>
          <a:solidFill>
            <a:srgbClr val="2E5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768096"/>
            <a:ext cx="11676888" cy="219456"/>
          </a:xfrm>
          <a:prstGeom prst="rect">
            <a:avLst/>
          </a:prstGeom>
          <a:solidFill>
            <a:srgbClr val="2E5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429768"/>
            <a:ext cx="77724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Funktionsumfang 1.4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457200"/>
            <a:ext cx="6400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1100" b="0">
                <a:solidFill>
                  <a:srgbClr val="EDF4F1"/>
                </a:solidFill>
              </a:defRPr>
            </a:pPr>
            <a:r>
              <a:t>3/8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07592"/>
            <a:ext cx="10149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42E2D"/>
                </a:solidFill>
              </a:defRPr>
            </a:pPr>
            <a:r>
              <a:t>CSV laden mit Encoding- und Separator-Erkennung.</a:t>
            </a:r>
          </a:p>
          <a:p>
            <a:pPr>
              <a:spcAft>
                <a:spcPts val="1000"/>
              </a:spcAft>
              <a:defRPr sz="1800">
                <a:solidFill>
                  <a:srgbClr val="242E2D"/>
                </a:solidFill>
              </a:defRPr>
            </a:pPr>
            <a:r>
              <a:t>Überblick, Tabelle, Kennzahlen und Diagramme nach dem Laden.</a:t>
            </a:r>
          </a:p>
          <a:p>
            <a:pPr>
              <a:spcAft>
                <a:spcPts val="1000"/>
              </a:spcAft>
              <a:defRPr sz="1800">
                <a:solidFill>
                  <a:srgbClr val="242E2D"/>
                </a:solidFill>
              </a:defRPr>
            </a:pPr>
            <a:r>
              <a:t>Bearbeiten auf Arbeitskopie: Mehrfachfilter, Schnellansichten, Markierungen und Typübersteuerung.</a:t>
            </a:r>
          </a:p>
          <a:p>
            <a:pPr>
              <a:spcAft>
                <a:spcPts val="1000"/>
              </a:spcAft>
              <a:defRPr sz="1800">
                <a:solidFill>
                  <a:srgbClr val="242E2D"/>
                </a:solidFill>
              </a:defRPr>
            </a:pPr>
            <a:r>
              <a:t>Export der aktiven Sicht als neue CSV-Datei.</a:t>
            </a:r>
          </a:p>
          <a:p>
            <a:pPr>
              <a:spcAft>
                <a:spcPts val="1000"/>
              </a:spcAft>
              <a:defRPr sz="1800">
                <a:solidFill>
                  <a:srgbClr val="242E2D"/>
                </a:solidFill>
              </a:defRPr>
            </a:pPr>
            <a:r>
              <a:t>Lokaler HTML-Analysebericht aus derselben aktiven Sicht.</a:t>
            </a:r>
          </a:p>
          <a:p>
            <a:pPr>
              <a:spcAft>
                <a:spcPts val="1000"/>
              </a:spcAft>
              <a:defRPr sz="1800">
                <a:solidFill>
                  <a:srgbClr val="242E2D"/>
                </a:solidFill>
              </a:defRPr>
            </a:pPr>
            <a:r>
              <a:t>Info / Schnellstart mit Button für die mitgelieferte Beispieldatei.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6032" y="219456"/>
            <a:ext cx="11676888" cy="6400800"/>
          </a:xfrm>
          <a:prstGeom prst="roundRect">
            <a:avLst/>
          </a:prstGeom>
          <a:solidFill>
            <a:srgbClr val="FFFFFF"/>
          </a:solidFill>
          <a:ln>
            <a:solidFill>
              <a:srgbClr val="D4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56032" y="219456"/>
            <a:ext cx="11676888" cy="768096"/>
          </a:xfrm>
          <a:prstGeom prst="roundRect">
            <a:avLst/>
          </a:prstGeom>
          <a:solidFill>
            <a:srgbClr val="2E5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768096"/>
            <a:ext cx="11676888" cy="219456"/>
          </a:xfrm>
          <a:prstGeom prst="rect">
            <a:avLst/>
          </a:prstGeom>
          <a:solidFill>
            <a:srgbClr val="2E5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429768"/>
            <a:ext cx="77724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Produktlogik und Architektur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457200"/>
            <a:ext cx="6400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1100" b="0">
                <a:solidFill>
                  <a:srgbClr val="EDF4F1"/>
                </a:solidFill>
              </a:defRPr>
            </a:pPr>
            <a:r>
              <a:t>4/8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07592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42E2D"/>
                </a:solidFill>
              </a:defRPr>
            </a:pPr>
            <a:r>
              <a:t>Datenfluss: CSV-Datei -&gt; import_service -&gt; Original-DF -&gt; Arbeitskopie -&gt; aktive Sicht -&gt; CSV/HTML-Ausgabe.</a:t>
            </a:r>
          </a:p>
          <a:p>
            <a:pPr>
              <a:spcAft>
                <a:spcPts val="1000"/>
              </a:spcAft>
              <a:defRPr sz="1800">
                <a:solidFill>
                  <a:srgbClr val="242E2D"/>
                </a:solidFill>
              </a:defRPr>
            </a:pPr>
            <a:r>
              <a:t>SessionState trennt Originaldaten, Arbeitskopie und aktive Sicht.</a:t>
            </a:r>
          </a:p>
          <a:p>
            <a:pPr>
              <a:spcAft>
                <a:spcPts val="1000"/>
              </a:spcAft>
              <a:defRPr sz="1800">
                <a:solidFill>
                  <a:srgbClr val="242E2D"/>
                </a:solidFill>
              </a:defRPr>
            </a:pPr>
            <a:r>
              <a:t>Services kapseln Import, Profilierung, Qualität, Diagramme, Transformation, Export und Bericht.</a:t>
            </a:r>
          </a:p>
          <a:p>
            <a:pPr>
              <a:spcAft>
                <a:spcPts val="1000"/>
              </a:spcAft>
              <a:defRPr sz="1800">
                <a:solidFill>
                  <a:srgbClr val="242E2D"/>
                </a:solidFill>
              </a:defRPr>
            </a:pPr>
            <a:r>
              <a:t>UI, Services und Domain sind laut Architektur getrennt; relevante Pfade bleiben portabel.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17320"/>
            <a:ext cx="5074920" cy="4160520"/>
          </a:xfrm>
          <a:prstGeom prst="roundRect">
            <a:avLst/>
          </a:prstGeom>
          <a:solidFill>
            <a:srgbClr val="FAFBFA"/>
          </a:solidFill>
          <a:ln>
            <a:solidFill>
              <a:srgbClr val="D4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170432"/>
            <a:ext cx="402336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00" b="1">
                <a:solidFill>
                  <a:srgbClr val="606E6B"/>
                </a:solidFill>
              </a:defRPr>
            </a:pPr>
            <a:r>
              <a:t>Bearbeiten-Tab mit Filtern, Schnellansichten und Markierungen</a:t>
            </a:r>
          </a:p>
        </p:txBody>
      </p:sp>
      <p:pic>
        <p:nvPicPr>
          <p:cNvPr id="10" name="Picture 9" descr="edit_cur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645920"/>
            <a:ext cx="4754880" cy="30378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21792" y="5897880"/>
            <a:ext cx="10104120" cy="18288"/>
          </a:xfrm>
          <a:prstGeom prst="rect">
            <a:avLst/>
          </a:prstGeom>
          <a:solidFill>
            <a:srgbClr val="D4D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5971032"/>
            <a:ext cx="1010412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00" b="0">
                <a:solidFill>
                  <a:srgbClr val="606E6B"/>
                </a:solidFill>
              </a:defRPr>
            </a:pPr>
            <a:r>
              <a:t>Realer Screenshot aus der aktuellen Anwendung mit test_csv_deutsch_200x15.csv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6032" y="219456"/>
            <a:ext cx="11676888" cy="6400800"/>
          </a:xfrm>
          <a:prstGeom prst="roundRect">
            <a:avLst/>
          </a:prstGeom>
          <a:solidFill>
            <a:srgbClr val="FFFFFF"/>
          </a:solidFill>
          <a:ln>
            <a:solidFill>
              <a:srgbClr val="D4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56032" y="219456"/>
            <a:ext cx="11676888" cy="768096"/>
          </a:xfrm>
          <a:prstGeom prst="roundRect">
            <a:avLst/>
          </a:prstGeom>
          <a:solidFill>
            <a:srgbClr val="2E5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768096"/>
            <a:ext cx="11676888" cy="219456"/>
          </a:xfrm>
          <a:prstGeom prst="rect">
            <a:avLst/>
          </a:prstGeom>
          <a:solidFill>
            <a:srgbClr val="2E5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429768"/>
            <a:ext cx="77724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Oberfläche und Screenshots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457200"/>
            <a:ext cx="6400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1100" b="0">
                <a:solidFill>
                  <a:srgbClr val="EDF4F1"/>
                </a:solidFill>
              </a:defRPr>
            </a:pPr>
            <a:r>
              <a:t>5/8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07592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42E2D"/>
                </a:solidFill>
              </a:defRPr>
            </a:pPr>
            <a:r>
              <a:t>Die Oberfläche bündelt Überblick, Kennzahlen und Diagramme in getrennten Tabs.</a:t>
            </a:r>
          </a:p>
          <a:p>
            <a:pPr>
              <a:spcAft>
                <a:spcPts val="1000"/>
              </a:spcAft>
              <a:defRPr sz="1800">
                <a:solidFill>
                  <a:srgbClr val="242E2D"/>
                </a:solidFill>
              </a:defRPr>
            </a:pPr>
            <a:r>
              <a:t>Die mitgelieferte Beispieldatei umfasst 200 Zeilen und 15 Spalten.</a:t>
            </a:r>
          </a:p>
          <a:p>
            <a:pPr>
              <a:spcAft>
                <a:spcPts val="1000"/>
              </a:spcAft>
              <a:defRPr sz="1800">
                <a:solidFill>
                  <a:srgbClr val="242E2D"/>
                </a:solidFill>
              </a:defRPr>
            </a:pPr>
            <a:r>
              <a:t>Im Überblick werden Struktur, Warnungen und Hinweise direkt nach dem Laden sichtbar.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06440" y="1490472"/>
            <a:ext cx="2606040" cy="1755648"/>
          </a:xfrm>
          <a:prstGeom prst="roundRect">
            <a:avLst/>
          </a:prstGeom>
          <a:solidFill>
            <a:srgbClr val="FAFBFA"/>
          </a:solidFill>
          <a:ln>
            <a:solidFill>
              <a:srgbClr val="D4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0" y="1527048"/>
            <a:ext cx="2514600" cy="1371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00" b="1">
                <a:solidFill>
                  <a:srgbClr val="606E6B"/>
                </a:solidFill>
              </a:defRPr>
            </a:pPr>
            <a:r>
              <a:t>Überblick</a:t>
            </a:r>
          </a:p>
        </p:txBody>
      </p:sp>
      <p:pic>
        <p:nvPicPr>
          <p:cNvPr id="10" name="Picture 9" descr="overview_cur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691640"/>
            <a:ext cx="2514600" cy="160655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458200" y="1490472"/>
            <a:ext cx="2606040" cy="1755648"/>
          </a:xfrm>
          <a:prstGeom prst="roundRect">
            <a:avLst/>
          </a:prstGeom>
          <a:solidFill>
            <a:srgbClr val="FAFBFA"/>
          </a:solidFill>
          <a:ln>
            <a:solidFill>
              <a:srgbClr val="D4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1527048"/>
            <a:ext cx="2514600" cy="1371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00" b="1">
                <a:solidFill>
                  <a:srgbClr val="606E6B"/>
                </a:solidFill>
              </a:defRPr>
            </a:pPr>
            <a:r>
              <a:t>Kennzahlen</a:t>
            </a:r>
          </a:p>
        </p:txBody>
      </p:sp>
      <p:pic>
        <p:nvPicPr>
          <p:cNvPr id="13" name="Picture 12" descr="metrics_cur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691640"/>
            <a:ext cx="2514600" cy="160655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132320" y="3547871"/>
            <a:ext cx="2606040" cy="1755648"/>
          </a:xfrm>
          <a:prstGeom prst="roundRect">
            <a:avLst/>
          </a:prstGeom>
          <a:solidFill>
            <a:srgbClr val="FAFBFA"/>
          </a:solidFill>
          <a:ln>
            <a:solidFill>
              <a:srgbClr val="D4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78040" y="3584447"/>
            <a:ext cx="2514600" cy="1371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00" b="1">
                <a:solidFill>
                  <a:srgbClr val="606E6B"/>
                </a:solidFill>
              </a:defRPr>
            </a:pPr>
            <a:r>
              <a:t>Diagramme</a:t>
            </a:r>
          </a:p>
        </p:txBody>
      </p:sp>
      <p:pic>
        <p:nvPicPr>
          <p:cNvPr id="16" name="Picture 15" descr="charts_cur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3749039"/>
            <a:ext cx="2514600" cy="160655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621792" y="5897880"/>
            <a:ext cx="10104120" cy="18288"/>
          </a:xfrm>
          <a:prstGeom prst="rect">
            <a:avLst/>
          </a:prstGeom>
          <a:solidFill>
            <a:srgbClr val="D4D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5971032"/>
            <a:ext cx="1010412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00" b="0">
                <a:solidFill>
                  <a:srgbClr val="606E6B"/>
                </a:solidFill>
              </a:defRPr>
            </a:pPr>
            <a:r>
              <a:t>Verwendet wurden neu erzeugte reale Screenshots aus dem aktuellen Projektstand.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6032" y="219456"/>
            <a:ext cx="11676888" cy="6400800"/>
          </a:xfrm>
          <a:prstGeom prst="roundRect">
            <a:avLst/>
          </a:prstGeom>
          <a:solidFill>
            <a:srgbClr val="FFFFFF"/>
          </a:solidFill>
          <a:ln>
            <a:solidFill>
              <a:srgbClr val="D4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56032" y="219456"/>
            <a:ext cx="11676888" cy="768096"/>
          </a:xfrm>
          <a:prstGeom prst="roundRect">
            <a:avLst/>
          </a:prstGeom>
          <a:solidFill>
            <a:srgbClr val="2E5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768096"/>
            <a:ext cx="11676888" cy="219456"/>
          </a:xfrm>
          <a:prstGeom prst="rect">
            <a:avLst/>
          </a:prstGeom>
          <a:solidFill>
            <a:srgbClr val="2E5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429768"/>
            <a:ext cx="77724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Qualitätssicherung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457200"/>
            <a:ext cx="6400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1100" b="0">
                <a:solidFill>
                  <a:srgbClr val="EDF4F1"/>
                </a:solidFill>
              </a:defRPr>
            </a:pPr>
            <a:r>
              <a:t>6/8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07592"/>
            <a:ext cx="10149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42E2D"/>
                </a:solidFill>
              </a:defRPr>
            </a:pPr>
            <a:r>
              <a:t>Aktueller lokaler Testlauf im Projektordner: 153 Tests bestanden.</a:t>
            </a:r>
          </a:p>
          <a:p>
            <a:pPr>
              <a:spcAft>
                <a:spcPts val="1000"/>
              </a:spcAft>
              <a:defRPr sz="1800">
                <a:solidFill>
                  <a:srgbClr val="242E2D"/>
                </a:solidFill>
              </a:defRPr>
            </a:pPr>
            <a:r>
              <a:t>Testbereiche laut Testplan: Import, Profilierung, Datenqualität, Diagramme, Transformationen, Export/Bericht sowie Session-State und Pfade.</a:t>
            </a:r>
          </a:p>
          <a:p>
            <a:pPr>
              <a:spcAft>
                <a:spcPts val="1000"/>
              </a:spcAft>
              <a:defRPr sz="1800">
                <a:solidFill>
                  <a:srgbClr val="242E2D"/>
                </a:solidFill>
              </a:defRPr>
            </a:pPr>
            <a:r>
              <a:t>Release-Status nennt produktrelevante Tests, erfolgreichen finalen Build und startende EXE.</a:t>
            </a:r>
          </a:p>
          <a:p>
            <a:pPr>
              <a:spcAft>
                <a:spcPts val="1000"/>
              </a:spcAft>
              <a:defRPr sz="1800">
                <a:solidFill>
                  <a:srgbClr val="242E2D"/>
                </a:solidFill>
              </a:defRPr>
            </a:pPr>
            <a:r>
              <a:t>Die Schutzregel Originaldatei bleibt unverändert ist in Doku und Tests durchgängig verankert.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" y="5897880"/>
            <a:ext cx="10104120" cy="18288"/>
          </a:xfrm>
          <a:prstGeom prst="rect">
            <a:avLst/>
          </a:prstGeom>
          <a:solidFill>
            <a:srgbClr val="D4D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5971032"/>
            <a:ext cx="1010412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00" b="0">
                <a:solidFill>
                  <a:srgbClr val="B06E2D"/>
                </a:solidFill>
              </a:defRPr>
            </a:pPr>
            <a:r>
              <a:t>Realer Testlauf: pytest -q im Projektordner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6032" y="219456"/>
            <a:ext cx="11676888" cy="6400800"/>
          </a:xfrm>
          <a:prstGeom prst="roundRect">
            <a:avLst/>
          </a:prstGeom>
          <a:solidFill>
            <a:srgbClr val="FFFFFF"/>
          </a:solidFill>
          <a:ln>
            <a:solidFill>
              <a:srgbClr val="D4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56032" y="219456"/>
            <a:ext cx="11676888" cy="768096"/>
          </a:xfrm>
          <a:prstGeom prst="roundRect">
            <a:avLst/>
          </a:prstGeom>
          <a:solidFill>
            <a:srgbClr val="2E5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768096"/>
            <a:ext cx="11676888" cy="219456"/>
          </a:xfrm>
          <a:prstGeom prst="rect">
            <a:avLst/>
          </a:prstGeom>
          <a:solidFill>
            <a:srgbClr val="2E5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429768"/>
            <a:ext cx="77724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Release und Portabilität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457200"/>
            <a:ext cx="6400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1100" b="0">
                <a:solidFill>
                  <a:srgbClr val="EDF4F1"/>
                </a:solidFill>
              </a:defRPr>
            </a:pPr>
            <a:r>
              <a:t>7/8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07592"/>
            <a:ext cx="10149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42E2D"/>
                </a:solidFill>
              </a:defRPr>
            </a:pPr>
            <a:r>
              <a:t>One-Folder-Release: dist/MinAn_1_4/ mit MinAn.exe, _internal, output und README_Kurzstart.txt.</a:t>
            </a:r>
          </a:p>
          <a:p>
            <a:pPr>
              <a:spcAft>
                <a:spcPts val="1000"/>
              </a:spcAft>
              <a:defRPr sz="1800">
                <a:solidFill>
                  <a:srgbClr val="242E2D"/>
                </a:solidFill>
              </a:defRPr>
            </a:pPr>
            <a:r>
              <a:t>Startdatei: MinAn.exe mit ca. 10.1 MB.</a:t>
            </a:r>
          </a:p>
          <a:p>
            <a:pPr>
              <a:spcAft>
                <a:spcPts val="1000"/>
              </a:spcAft>
              <a:defRPr sz="1800">
                <a:solidFill>
                  <a:srgbClr val="242E2D"/>
                </a:solidFill>
              </a:defRPr>
            </a:pPr>
            <a:r>
              <a:t>Output-Ordner im Release: output/reports für HTML-Berichte und output/csv für CSV-Exporte.</a:t>
            </a:r>
          </a:p>
          <a:p>
            <a:pPr>
              <a:spcAft>
                <a:spcPts val="1000"/>
              </a:spcAft>
              <a:defRPr sz="1800">
                <a:solidFill>
                  <a:srgbClr val="242E2D"/>
                </a:solidFill>
              </a:defRPr>
            </a:pPr>
            <a:r>
              <a:t>Die Beispieldatei liegt im Release unter _internal/sample_data/test_csv_deutsch_200x15.csv.</a:t>
            </a:r>
          </a:p>
          <a:p>
            <a:pPr>
              <a:spcAft>
                <a:spcPts val="1000"/>
              </a:spcAft>
              <a:defRPr sz="1800">
                <a:solidFill>
                  <a:srgbClr val="242E2D"/>
                </a:solidFill>
              </a:defRPr>
            </a:pPr>
            <a:r>
              <a:t>Keine Pflichtinstallation und keine Nutzdatenablage in _internal außer der mitgelieferten Beispieldatei.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6032" y="219456"/>
            <a:ext cx="11676888" cy="6400800"/>
          </a:xfrm>
          <a:prstGeom prst="roundRect">
            <a:avLst/>
          </a:prstGeom>
          <a:solidFill>
            <a:srgbClr val="FFFFFF"/>
          </a:solidFill>
          <a:ln>
            <a:solidFill>
              <a:srgbClr val="D4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56032" y="219456"/>
            <a:ext cx="11676888" cy="768096"/>
          </a:xfrm>
          <a:prstGeom prst="roundRect">
            <a:avLst/>
          </a:prstGeom>
          <a:solidFill>
            <a:srgbClr val="2E5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768096"/>
            <a:ext cx="11676888" cy="219456"/>
          </a:xfrm>
          <a:prstGeom prst="rect">
            <a:avLst/>
          </a:prstGeom>
          <a:solidFill>
            <a:srgbClr val="2E5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429768"/>
            <a:ext cx="77724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Fazit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457200"/>
            <a:ext cx="6400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1100" b="0">
                <a:solidFill>
                  <a:srgbClr val="EDF4F1"/>
                </a:solidFill>
              </a:defRPr>
            </a:pPr>
            <a:r>
              <a:t>8/8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07592"/>
            <a:ext cx="10149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42E2D"/>
                </a:solidFill>
              </a:defRPr>
            </a:pPr>
            <a:r>
              <a:t>Der aktuelle Stand ist kein reines V1-Minimum mehr, sondern dokumentiert als MinAn 1.4.</a:t>
            </a:r>
          </a:p>
          <a:p>
            <a:pPr>
              <a:spcAft>
                <a:spcPts val="1000"/>
              </a:spcAft>
              <a:defRPr sz="1800">
                <a:solidFill>
                  <a:srgbClr val="242E2D"/>
                </a:solidFill>
              </a:defRPr>
            </a:pPr>
            <a:r>
              <a:t>Erreicht wurden lokaler Schnellstart, portable Release-Struktur, aktive Sicht, CSV-Export und HTML-Bericht.</a:t>
            </a:r>
          </a:p>
          <a:p>
            <a:pPr>
              <a:spcAft>
                <a:spcPts val="1000"/>
              </a:spcAft>
              <a:defRPr sz="1800">
                <a:solidFill>
                  <a:srgbClr val="242E2D"/>
                </a:solidFill>
              </a:defRPr>
            </a:pPr>
            <a:r>
              <a:t>Die Architektur bleibt klar getrennt, die Originaldatei bleibt geschützt und der Release ist portable nutzbar.</a:t>
            </a:r>
          </a:p>
          <a:p>
            <a:pPr>
              <a:spcAft>
                <a:spcPts val="1000"/>
              </a:spcAft>
              <a:defRPr sz="1800">
                <a:solidFill>
                  <a:srgbClr val="242E2D"/>
                </a:solidFill>
              </a:defRPr>
            </a:pPr>
            <a:r>
              <a:t>Offene Restpunkte wurden in den aktuellen Kerndokumenten nicht als release-blockend ausgewiesen.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" y="5897880"/>
            <a:ext cx="10104120" cy="18288"/>
          </a:xfrm>
          <a:prstGeom prst="rect">
            <a:avLst/>
          </a:prstGeom>
          <a:solidFill>
            <a:srgbClr val="D4D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5971032"/>
            <a:ext cx="1010412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00" b="0">
                <a:solidFill>
                  <a:srgbClr val="606E6B"/>
                </a:solidFill>
              </a:defRPr>
            </a:pPr>
            <a:r>
              <a:t>Hinweis: Projektordner heißt weiterhin MinAn V1, die aktuelle Produktbezeichnung in den Quellen ist MinAn 1.4.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